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e03c9a8ad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e03c9a8a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tCar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840300"/>
            <a:ext cx="6331500" cy="20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4317933"/>
            <a:ext cx="6331500" cy="16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2409100"/>
            <a:ext cx="8296800" cy="20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6"/>
          <p:cNvGrpSpPr/>
          <p:nvPr/>
        </p:nvGrpSpPr>
        <p:grpSpPr>
          <a:xfrm>
            <a:off x="6697700" y="-26925"/>
            <a:ext cx="2593100" cy="2471000"/>
            <a:chOff x="6697700" y="-26925"/>
            <a:chExt cx="2593100" cy="2471000"/>
          </a:xfrm>
        </p:grpSpPr>
        <p:sp>
          <p:nvSpPr>
            <p:cNvPr id="38" name="Google Shape;38;p6"/>
            <p:cNvSpPr/>
            <p:nvPr/>
          </p:nvSpPr>
          <p:spPr>
            <a:xfrm rot="5400000">
              <a:off x="6738750" y="-17975"/>
              <a:ext cx="2417700" cy="2417700"/>
            </a:xfrm>
            <a:prstGeom prst="diagStrip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6918900" y="-26925"/>
              <a:ext cx="2371900" cy="2426650"/>
              <a:chOff x="6906450" y="-8950"/>
              <a:chExt cx="2371900" cy="2426650"/>
            </a:xfrm>
          </p:grpSpPr>
          <p:pic>
            <p:nvPicPr>
              <p:cNvPr id="40" name="Google Shape;40;p6" title="paw72.png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14478"/>
              <a:stretch/>
            </p:blipFill>
            <p:spPr>
              <a:xfrm>
                <a:off x="7592250" y="-8950"/>
                <a:ext cx="685800" cy="586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" name="Google Shape;41;p6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458200" y="173190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" name="Google Shape;42;p6" title="paw72.png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6890" t="10658"/>
              <a:stretch/>
            </p:blipFill>
            <p:spPr>
              <a:xfrm rot="3218615">
                <a:off x="8523074" y="1104079"/>
                <a:ext cx="638552" cy="6127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" name="Google Shape;43;p6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859875" y="1149575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" name="Google Shape;44;p6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-3962337">
                <a:off x="8087525" y="57755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" name="Google Shape;45;p6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468525" y="57755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  <a:effectLst>
                <a:reflection blurRad="0" dir="5400000" dist="38100" endA="0" endPos="30000" fadeDir="5400012" kx="0" rotWithShape="0" algn="bl" stPos="0" sy="-100000" ky="0"/>
              </a:effectLst>
            </p:spPr>
          </p:pic>
          <p:pic>
            <p:nvPicPr>
              <p:cNvPr id="46" name="Google Shape;46;p6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06450" y="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7" name="Google Shape;47;p6"/>
            <p:cNvSpPr/>
            <p:nvPr/>
          </p:nvSpPr>
          <p:spPr>
            <a:xfrm>
              <a:off x="6697700" y="-14725"/>
              <a:ext cx="2458800" cy="24588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 rot="10800000">
              <a:off x="7952400" y="-26925"/>
              <a:ext cx="1191600" cy="12393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303300" y="548767"/>
            <a:ext cx="8520600" cy="8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7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7"/>
          <p:cNvSpPr txBox="1"/>
          <p:nvPr>
            <p:ph type="title"/>
          </p:nvPr>
        </p:nvSpPr>
        <p:spPr>
          <a:xfrm>
            <a:off x="319500" y="1248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319500" y="2462405"/>
            <a:ext cx="2808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8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8"/>
          <p:cNvSpPr txBox="1"/>
          <p:nvPr>
            <p:ph type="title"/>
          </p:nvPr>
        </p:nvSpPr>
        <p:spPr>
          <a:xfrm>
            <a:off x="283103" y="949521"/>
            <a:ext cx="6244200" cy="51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4572000" y="167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9"/>
          <p:cNvSpPr txBox="1"/>
          <p:nvPr>
            <p:ph type="title"/>
          </p:nvPr>
        </p:nvSpPr>
        <p:spPr>
          <a:xfrm>
            <a:off x="265500" y="1863133"/>
            <a:ext cx="4045200" cy="17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>
            <a:off x="265500" y="364716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0"/>
          <p:cNvGrpSpPr/>
          <p:nvPr/>
        </p:nvGrpSpPr>
        <p:grpSpPr>
          <a:xfrm>
            <a:off x="6697700" y="-26925"/>
            <a:ext cx="2593100" cy="2471000"/>
            <a:chOff x="6697700" y="-26925"/>
            <a:chExt cx="2593100" cy="2471000"/>
          </a:xfrm>
        </p:grpSpPr>
        <p:sp>
          <p:nvSpPr>
            <p:cNvPr id="69" name="Google Shape;69;p10"/>
            <p:cNvSpPr/>
            <p:nvPr/>
          </p:nvSpPr>
          <p:spPr>
            <a:xfrm rot="5400000">
              <a:off x="6738750" y="-17975"/>
              <a:ext cx="2417700" cy="2417700"/>
            </a:xfrm>
            <a:prstGeom prst="diagStrip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70" name="Google Shape;70;p10"/>
            <p:cNvGrpSpPr/>
            <p:nvPr/>
          </p:nvGrpSpPr>
          <p:grpSpPr>
            <a:xfrm>
              <a:off x="6918900" y="-26925"/>
              <a:ext cx="2371900" cy="2426650"/>
              <a:chOff x="6906450" y="-8950"/>
              <a:chExt cx="2371900" cy="2426650"/>
            </a:xfrm>
          </p:grpSpPr>
          <p:pic>
            <p:nvPicPr>
              <p:cNvPr id="71" name="Google Shape;71;p10" title="paw72.png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14478"/>
              <a:stretch/>
            </p:blipFill>
            <p:spPr>
              <a:xfrm>
                <a:off x="7592250" y="-8950"/>
                <a:ext cx="685800" cy="586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Google Shape;72;p10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458200" y="173190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" name="Google Shape;73;p10" title="paw72.png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6890" t="10658"/>
              <a:stretch/>
            </p:blipFill>
            <p:spPr>
              <a:xfrm rot="3218615">
                <a:off x="8523074" y="1104079"/>
                <a:ext cx="638552" cy="6127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" name="Google Shape;74;p10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859875" y="1149575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10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-3962337">
                <a:off x="8087525" y="57755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0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468525" y="57755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  <a:effectLst>
                <a:reflection blurRad="0" dir="5400000" dist="38100" endA="0" endPos="30000" fadeDir="5400012" kx="0" rotWithShape="0" algn="bl" stPos="0" sy="-100000" ky="0"/>
              </a:effectLst>
            </p:spPr>
          </p:pic>
          <p:pic>
            <p:nvPicPr>
              <p:cNvPr id="77" name="Google Shape;77;p10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06450" y="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8" name="Google Shape;78;p10"/>
            <p:cNvSpPr/>
            <p:nvPr/>
          </p:nvSpPr>
          <p:spPr>
            <a:xfrm>
              <a:off x="6697700" y="-14725"/>
              <a:ext cx="2458800" cy="24588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9" name="Google Shape;79;p10"/>
            <p:cNvSpPr/>
            <p:nvPr/>
          </p:nvSpPr>
          <p:spPr>
            <a:xfrm rot="10800000">
              <a:off x="7952400" y="-26925"/>
              <a:ext cx="1191600" cy="12393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80" name="Google Shape;80;p10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0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328017" y="5634700"/>
            <a:ext cx="83886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1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1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1"/>
          <p:cNvSpPr txBox="1"/>
          <p:nvPr>
            <p:ph hasCustomPrompt="1" type="title"/>
          </p:nvPr>
        </p:nvSpPr>
        <p:spPr>
          <a:xfrm>
            <a:off x="853950" y="1739800"/>
            <a:ext cx="74361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853950" y="3892600"/>
            <a:ext cx="74361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2"/>
          <p:cNvGrpSpPr/>
          <p:nvPr/>
        </p:nvGrpSpPr>
        <p:grpSpPr>
          <a:xfrm>
            <a:off x="6697700" y="-26925"/>
            <a:ext cx="2593100" cy="2471000"/>
            <a:chOff x="6697700" y="-26925"/>
            <a:chExt cx="2593100" cy="2471000"/>
          </a:xfrm>
        </p:grpSpPr>
        <p:sp>
          <p:nvSpPr>
            <p:cNvPr id="92" name="Google Shape;92;p12"/>
            <p:cNvSpPr/>
            <p:nvPr/>
          </p:nvSpPr>
          <p:spPr>
            <a:xfrm rot="5400000">
              <a:off x="6738750" y="-17975"/>
              <a:ext cx="2417700" cy="2417700"/>
            </a:xfrm>
            <a:prstGeom prst="diagStrip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93" name="Google Shape;93;p12"/>
            <p:cNvGrpSpPr/>
            <p:nvPr/>
          </p:nvGrpSpPr>
          <p:grpSpPr>
            <a:xfrm>
              <a:off x="6918900" y="-26925"/>
              <a:ext cx="2371900" cy="2426650"/>
              <a:chOff x="6906450" y="-8950"/>
              <a:chExt cx="2371900" cy="2426650"/>
            </a:xfrm>
          </p:grpSpPr>
          <p:pic>
            <p:nvPicPr>
              <p:cNvPr id="94" name="Google Shape;94;p12" title="paw72.png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14478"/>
              <a:stretch/>
            </p:blipFill>
            <p:spPr>
              <a:xfrm>
                <a:off x="7592250" y="-8950"/>
                <a:ext cx="685800" cy="586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5" name="Google Shape;95;p12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458200" y="173190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" name="Google Shape;96;p12" title="paw72.png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6890" t="10658"/>
              <a:stretch/>
            </p:blipFill>
            <p:spPr>
              <a:xfrm rot="3218615">
                <a:off x="8523074" y="1104079"/>
                <a:ext cx="638552" cy="6127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7" name="Google Shape;97;p12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859875" y="1149575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2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-3962337">
                <a:off x="8087525" y="57755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" name="Google Shape;99;p12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468525" y="57755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  <a:effectLst>
                <a:reflection blurRad="0" dir="5400000" dist="38100" endA="0" endPos="30000" fadeDir="5400012" kx="0" rotWithShape="0" algn="bl" stPos="0" sy="-100000" ky="0"/>
              </a:effectLst>
            </p:spPr>
          </p:pic>
          <p:pic>
            <p:nvPicPr>
              <p:cNvPr id="100" name="Google Shape;100;p12" title="paw72.png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06450" y="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1" name="Google Shape;101;p12"/>
            <p:cNvSpPr/>
            <p:nvPr/>
          </p:nvSpPr>
          <p:spPr>
            <a:xfrm>
              <a:off x="6697700" y="-14725"/>
              <a:ext cx="2458800" cy="24588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" name="Google Shape;102;p12"/>
            <p:cNvSpPr/>
            <p:nvPr/>
          </p:nvSpPr>
          <p:spPr>
            <a:xfrm rot="10800000">
              <a:off x="7952400" y="-26925"/>
              <a:ext cx="1191600" cy="12393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horadopet.com/2025/04/21/panorama-pet-2025-populacao-animal/" TargetMode="External"/><Relationship Id="rId5" Type="http://schemas.openxmlformats.org/officeDocument/2006/relationships/hyperlink" Target="https://horadopet.com/2025/04/21/panorama-pet-2025-populacao-animal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ctrTitle"/>
          </p:nvPr>
        </p:nvSpPr>
        <p:spPr>
          <a:xfrm>
            <a:off x="2390275" y="765025"/>
            <a:ext cx="6331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PetCare – Conexão e Gestão para Hotéis de Pets</a:t>
            </a:r>
            <a:endParaRPr/>
          </a:p>
        </p:txBody>
      </p:sp>
      <p:sp>
        <p:nvSpPr>
          <p:cNvPr id="115" name="Google Shape;115;p14"/>
          <p:cNvSpPr txBox="1"/>
          <p:nvPr>
            <p:ph idx="1" type="subTitle"/>
          </p:nvPr>
        </p:nvSpPr>
        <p:spPr>
          <a:xfrm>
            <a:off x="2390267" y="3979283"/>
            <a:ext cx="63315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</a:rPr>
              <a:t>Grupo: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Lucas Eduardo Silva Couto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Arthur Rocha Furtado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Bruna Ribeiro Pérez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Julio Cesar Claudino Carvalho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Marco Túlio Crecencio Araújo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FFFFFF"/>
                </a:solidFill>
              </a:rPr>
              <a:t>Mateus Valadares de Oliveira Freitas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16" name="Google Shape;116;p14" title="paw7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25" y="6427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2785525" y="5719725"/>
            <a:ext cx="55410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Professora: Maria Inês Lage de Paula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 da Solução</a:t>
            </a:r>
            <a:endParaRPr/>
          </a:p>
        </p:txBody>
      </p:sp>
      <p:sp>
        <p:nvSpPr>
          <p:cNvPr id="123" name="Google Shape;123;p15"/>
          <p:cNvSpPr txBox="1"/>
          <p:nvPr>
            <p:ph idx="4294967295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PetCare é uma solução tecnológica capaz de conectar tutores e hotéis especializados em hospedagem de animais, visando aumentar a confiabilidade, a organização e a transparência ao longo de toda a jornada de hospedagem do animal.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 rot="5400000">
            <a:off x="6726300" y="0"/>
            <a:ext cx="2417700" cy="2417700"/>
          </a:xfrm>
          <a:prstGeom prst="diagStrip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File:Brasão PUC Minas.png - Wikipedia" id="125" name="Google Shape;12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75" y="6022625"/>
            <a:ext cx="13716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title="paw7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2250" y="-10825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title="paw7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8200" y="17319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title="paw7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218589">
            <a:off x="8542875" y="106492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title="paw7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9875" y="11495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title="paw7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962337">
            <a:off x="8087525" y="57755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title="paw7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8525" y="57755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title="paw7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6906450" y="0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type="title"/>
          </p:nvPr>
        </p:nvSpPr>
        <p:spPr>
          <a:xfrm>
            <a:off x="265500" y="1863133"/>
            <a:ext cx="4045200" cy="17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esta o mercado?</a:t>
            </a:r>
            <a:endParaRPr/>
          </a:p>
        </p:txBody>
      </p: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Brasil no Topo do Mercado Pet Mundial</a:t>
            </a:r>
            <a:endParaRPr b="1" sz="22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Brasil ocupa atualmente a </a:t>
            </a:r>
            <a:r>
              <a:rPr b="1"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3ª posição no ranking mundial do mercado pet</a:t>
            </a: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ficando atrás apenas dos Estados Unidos e da China. A paixão dos brasileiros pelos animais de estimação é refletida tanto nos números de população quanto no consumo, já que os tutores estão cada vez mais dispostos a investir no bem-estar dos seus companheiros.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39" name="Google Shape;139;p16" title="paw7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500" y="6042250"/>
            <a:ext cx="610875" cy="61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014125" y="5535075"/>
            <a:ext cx="24366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informação de</a:t>
            </a:r>
            <a:r>
              <a:rPr lang="en-US" sz="11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 </a:t>
            </a:r>
            <a:r>
              <a:rPr lang="en-US" sz="1100">
                <a:solidFill>
                  <a:schemeClr val="dk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horadopet.com</a:t>
            </a:r>
            <a:r>
              <a:rPr lang="en-US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br>
              <a:rPr lang="en-US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Identificado</a:t>
            </a:r>
            <a:endParaRPr/>
          </a:p>
        </p:txBody>
      </p:sp>
      <p:sp>
        <p:nvSpPr>
          <p:cNvPr id="146" name="Google Shape;146;p17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transparência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com o estado dos pets durante a hospedagem.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Brasão PUC Minas.png - Wikipedia" id="147" name="Google Shape;14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72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Principais</a:t>
            </a:r>
            <a:endParaRPr/>
          </a:p>
        </p:txBody>
      </p:sp>
      <p:sp>
        <p:nvSpPr>
          <p:cNvPr id="153" name="Google Shape;153;p18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a transparência da estadia.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Agendamento simples e intuitivo.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Envio de fotos e vídeos.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Avaliações e feedbacks.</a:t>
            </a:r>
            <a:endParaRPr/>
          </a:p>
        </p:txBody>
      </p:sp>
      <p:pic>
        <p:nvPicPr>
          <p:cNvPr descr="File:Brasão PUC Minas.png - Wikipedia" id="154" name="Google Shape;1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72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Público-Alvo</a:t>
            </a:r>
            <a:endParaRPr/>
          </a:p>
        </p:txBody>
      </p:sp>
      <p:sp>
        <p:nvSpPr>
          <p:cNvPr id="160" name="Google Shape;160;p19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Tutores com rotinas intensas.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Hotéis que necessitam organizar reservas.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Hotéis que querem atingir um maior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público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Brasão PUC Minas.png - Wikipedia" id="161" name="Google Shape;1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72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idx="4294967295"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Funcionalidades</a:t>
            </a:r>
            <a:endParaRPr/>
          </a:p>
        </p:txBody>
      </p:sp>
      <p:sp>
        <p:nvSpPr>
          <p:cNvPr id="167" name="Google Shape;167;p20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Cadastro de usuários, pets e hotéis.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reservas completo.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Atualizações da estadia.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Avaliações e histórico de hospedagem.</a:t>
            </a:r>
            <a:endParaRPr/>
          </a:p>
        </p:txBody>
      </p:sp>
      <p:pic>
        <p:nvPicPr>
          <p:cNvPr descr="File:Brasão PUC Minas.png - Wikipedia"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72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Benefício Central</a:t>
            </a:r>
            <a:endParaRPr/>
          </a:p>
        </p:txBody>
      </p:sp>
      <p:sp>
        <p:nvSpPr>
          <p:cNvPr id="174" name="Google Shape;174;p21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Tranquilidade para tutores e eficiência para hotéis.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de agendamento prática e intuitiva.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Brasão PUC Minas.png - Wikipedia" id="175" name="Google Shape;17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72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238636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1EB43A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